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lear Sans" panose="020B0604020202020204" charset="0"/>
      <p:regular r:id="rId12"/>
    </p:embeddedFont>
    <p:embeddedFont>
      <p:font typeface="Clear Sans Bold" panose="020B0604020202020204" charset="0"/>
      <p:regular r:id="rId13"/>
    </p:embeddedFont>
    <p:embeddedFont>
      <p:font typeface="Impact" panose="020B080603090205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753848" y="7165197"/>
            <a:ext cx="8780304" cy="82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Presented By </a:t>
            </a:r>
          </a:p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Nikhil Rajiv(CB.SC.P2AIE25014),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5016" y="2942901"/>
            <a:ext cx="13783183" cy="321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b="1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DEEPFAKE DETECTION USING LSTM AND RESNET50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45016" y="6006777"/>
            <a:ext cx="1382617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 HYBRID DEEP LEARNING APPROACH FOR VIDEO AUTHENTICITY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660209" y="1056052"/>
            <a:ext cx="11748382" cy="1568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7500" dirty="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RESEARCH PROBLEM &amp; JUSTIFICATION (WHAT &amp; WHY)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65891" y="3446158"/>
            <a:ext cx="12210821" cy="655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768" lvl="1" indent="-269384" algn="l">
              <a:lnSpc>
                <a:spcPts val="3493"/>
              </a:lnSpc>
              <a:buFont typeface="Arial"/>
              <a:buChar char="•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Problem Understanding:</a:t>
            </a:r>
          </a:p>
          <a:p>
            <a:pPr marL="1077536" lvl="2" indent="-359179" algn="l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Deepfakes are AI-generated fake videos that manipulate facial features and expressions</a:t>
            </a:r>
          </a:p>
          <a:p>
            <a:pPr marL="1077536" lvl="2" indent="-359179" algn="l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Growing threat to information integrity, privacy, and security</a:t>
            </a:r>
          </a:p>
          <a:p>
            <a:pPr marL="1077536" lvl="2" indent="-359179" algn="l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Used for misinformation, fraud, and identity theft</a:t>
            </a:r>
          </a:p>
          <a:p>
            <a:pPr marL="1077536" lvl="2" indent="-359179" algn="l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Traditional detection methods struggle with evolving deepfake generation techniques</a:t>
            </a:r>
          </a:p>
          <a:p>
            <a:pPr marL="538768" lvl="1" indent="-269384" algn="l">
              <a:lnSpc>
                <a:spcPts val="3493"/>
              </a:lnSpc>
              <a:buFont typeface="Arial"/>
              <a:buChar char="•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Why This Matters:</a:t>
            </a:r>
          </a:p>
          <a:p>
            <a:pPr marL="1077536" lvl="2" indent="-359179" algn="l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96% of deepfakes are used maliciously (source: Sensity AI)</a:t>
            </a:r>
          </a:p>
          <a:p>
            <a:pPr marL="1077536" lvl="2" indent="-359179" algn="l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Can damage reputations, manipulate elections, and enable fraud</a:t>
            </a:r>
          </a:p>
          <a:p>
            <a:pPr marL="1077536" lvl="2" indent="-359179" algn="l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Need for automated, accurate detection systems</a:t>
            </a:r>
          </a:p>
          <a:p>
            <a:pPr marL="1077536" lvl="2" indent="-359179" algn="l">
              <a:lnSpc>
                <a:spcPts val="3493"/>
              </a:lnSpc>
              <a:buFont typeface="Arial"/>
              <a:buChar char="⚬"/>
            </a:pPr>
            <a:r>
              <a:rPr lang="en-US" sz="2495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Our Objective: Develop a hybrid deep learning model that can automatically distinguish between real and fake videos with high accuracy by analyzing both spatial and temporal features.</a:t>
            </a:r>
          </a:p>
          <a:p>
            <a:pPr algn="l">
              <a:lnSpc>
                <a:spcPts val="3493"/>
              </a:lnSpc>
            </a:pPr>
            <a:endParaRPr lang="en-US" sz="2495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543984" y="2846867"/>
            <a:ext cx="499041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DEEPFAKE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426345" y="1152525"/>
            <a:ext cx="991411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75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Dataset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23867" y="1880870"/>
            <a:ext cx="13659014" cy="840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Deepfake Detection Challenge Dataset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Dataset Characteristics: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Total Videos Processed: 400 videos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Real Videos: 200 samples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Fake Videos: 200 samples (created using various deepfake algorithms)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Frames Extracted: 5,464 face-cropped frames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Frames per Video: 15 frames (evenly distributed)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Image Resolution: 128×128 pixels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Preprocessing Steps:</a:t>
            </a: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Face detection using Haar Cascade classifier</a:t>
            </a: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Frame extraction at regular intervals</a:t>
            </a: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Face cropping and resizing</a:t>
            </a:r>
          </a:p>
          <a:p>
            <a:pPr marL="604519" lvl="1" indent="-302260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Normalization to [0, 1] range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Data Split: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Training Set: 80% (278 sequences)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Validation Set: 20% (70 sequences)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564028" y="581025"/>
            <a:ext cx="91599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75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ARCHITECTURE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48281" y="1771650"/>
            <a:ext cx="13562013" cy="79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HYBRID CNN-LSTM ARCHITECTURE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KEY COMPONENTS: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1. Feature Extraction Layer (ResNet50)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Pre-trained on ImageNet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Extracts 2,048 spatial features per frame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Identifies visual artifacts: blurring, inconsistent textures, lighting anomalies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2. Temporal Analysis Layer (LSTM)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512 LSTM units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Analyzes feature sequences across 15 frames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Captures temporal inconsistencies: flickering, unstable features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Remembers patterns over time using memory cells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3. Classification Layers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Dense layer (128 units) with ReLU activation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Dropout (60%) for regularization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Output layer: 2 classes (Real/Fake) with softmax activation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857931" y="1809426"/>
            <a:ext cx="10217741" cy="8059243"/>
          </a:xfrm>
          <a:custGeom>
            <a:avLst/>
            <a:gdLst/>
            <a:ahLst/>
            <a:cxnLst/>
            <a:rect l="l" t="t" r="r" b="b"/>
            <a:pathLst>
              <a:path w="10217741" h="8059243">
                <a:moveTo>
                  <a:pt x="0" y="0"/>
                </a:moveTo>
                <a:lnTo>
                  <a:pt x="10217741" y="0"/>
                </a:lnTo>
                <a:lnTo>
                  <a:pt x="10217741" y="8059244"/>
                </a:lnTo>
                <a:lnTo>
                  <a:pt x="0" y="8059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016880" y="926722"/>
            <a:ext cx="1425424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75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298718" y="581025"/>
            <a:ext cx="1043799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75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AI LOGIC - HOW IT WORKS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48281" y="1438823"/>
            <a:ext cx="13771454" cy="902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Spatial Feature Analysis (ResNet50):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What it detects: Visual inconsistencies in individual frames</a:t>
            </a:r>
          </a:p>
          <a:p>
            <a:pPr marL="1165860" lvl="2" indent="-388620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Examples:  Unnatural skin textures</a:t>
            </a:r>
          </a:p>
          <a:p>
            <a:pPr marL="2914650" lvl="5" indent="-485775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Blurred boundaries around faces</a:t>
            </a:r>
          </a:p>
          <a:p>
            <a:pPr marL="2914650" lvl="5" indent="-485775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Lighting inconsistencies</a:t>
            </a:r>
          </a:p>
          <a:p>
            <a:pPr marL="2914650" lvl="5" indent="-485775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Color artifacts</a:t>
            </a:r>
          </a:p>
          <a:p>
            <a:pPr marL="2914650" lvl="5" indent="-485775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Abnormal facial geometry</a:t>
            </a:r>
          </a:p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Temporal Pattern Recognition (LSTM):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What it detects: Inconsistencies across time</a:t>
            </a:r>
          </a:p>
          <a:p>
            <a:pPr marL="1165860" lvl="2" indent="-388620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Examples:  Flickering facial features</a:t>
            </a:r>
          </a:p>
          <a:p>
            <a:pPr marL="2914650" lvl="5" indent="-485775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Unstable eye movements</a:t>
            </a:r>
          </a:p>
          <a:p>
            <a:pPr marL="2914650" lvl="5" indent="-485775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Inconsistent lighting changes</a:t>
            </a:r>
          </a:p>
          <a:p>
            <a:pPr marL="2914650" lvl="5" indent="-485775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Unnatural head movements</a:t>
            </a:r>
          </a:p>
          <a:p>
            <a:pPr marL="2914650" lvl="5" indent="-485775" algn="l">
              <a:lnSpc>
                <a:spcPts val="3779"/>
              </a:lnSpc>
              <a:buFont typeface="Arial"/>
              <a:buChar char="⚬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Frame-to-frame discontinuities</a:t>
            </a:r>
          </a:p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Why This Combination Works: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Real videos: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Smooth spatial AND temporal consistency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Fake videos: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May look good in single frames but show temporal artifacts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LSTM remembers patterns → Detects subtle inconsistencies humans might miss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822228" y="926722"/>
            <a:ext cx="10643545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75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METHODOLOGY - TRAINING STRATEGY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68379" y="3088005"/>
            <a:ext cx="12544267" cy="569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Optimization Strategy: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Optimizer: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Adam (learning rate: 5×10⁻⁶)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Loss Function: 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Binary Cross-Entropy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Batch Size: 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4 sequences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Epochs: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50 (with early stopping)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Class Weights: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Real (1.15), Fake (1.05) - balanced for better real detection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Data Augmentation: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Horizontal flipping, Rotation (±10 degrees), Zoom (10% range)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Preprocessing: 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ResNet50 normalization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Regularization Techniques: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Dropout: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60% (prevents overfitting)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Early Stopping:</a:t>
            </a:r>
            <a:r>
              <a:rPr lang="en-US" sz="27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Patience of 10 epochs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213544" y="6354297"/>
            <a:ext cx="5074456" cy="3932703"/>
          </a:xfrm>
          <a:custGeom>
            <a:avLst/>
            <a:gdLst/>
            <a:ahLst/>
            <a:cxnLst/>
            <a:rect l="l" t="t" r="r" b="b"/>
            <a:pathLst>
              <a:path w="5074456" h="3932703">
                <a:moveTo>
                  <a:pt x="0" y="0"/>
                </a:moveTo>
                <a:lnTo>
                  <a:pt x="5074456" y="0"/>
                </a:lnTo>
                <a:lnTo>
                  <a:pt x="5074456" y="3932703"/>
                </a:lnTo>
                <a:lnTo>
                  <a:pt x="0" y="39327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981733" y="6479797"/>
            <a:ext cx="9730869" cy="3807203"/>
          </a:xfrm>
          <a:custGeom>
            <a:avLst/>
            <a:gdLst/>
            <a:ahLst/>
            <a:cxnLst/>
            <a:rect l="l" t="t" r="r" b="b"/>
            <a:pathLst>
              <a:path w="9730869" h="3807203">
                <a:moveTo>
                  <a:pt x="0" y="0"/>
                </a:moveTo>
                <a:lnTo>
                  <a:pt x="9730870" y="0"/>
                </a:lnTo>
                <a:lnTo>
                  <a:pt x="9730870" y="3807203"/>
                </a:lnTo>
                <a:lnTo>
                  <a:pt x="0" y="38072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649637" y="858487"/>
            <a:ext cx="1043799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75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RESULT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11200" y="4762352"/>
            <a:ext cx="4376829" cy="1591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TRUE NEGATIVES (FAKE→FAKE): 49 ✓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TRUE POSITIVES (REAL→REAL): 14 ✓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FALSE POSITIVES (FAKE→REAL): 6 ✗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FALSE NEGATIVES (REAL→FAKE): 1 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30451" y="1662796"/>
            <a:ext cx="8094869" cy="454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Accuracy Curve: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Started at 67.6%, reached 94.2% on training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Validation accuracy: 78.6% → 90.0%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Steady improvement with minimal fluctuation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Good generalization (small train-val gap)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Loss Curve: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Training loss: 0.662 → 0.182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Validation loss: 0.596 → 0.232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Consistent decrease indicates proper learning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No significant overfitting observed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68633" y="1662796"/>
            <a:ext cx="7386781" cy="271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Training Characteristics: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Model converged smoothly without early stopping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Learning rate scheduling helped optimization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Class weighting improved real video detection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Data augmentation prevented overfitting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564028" y="926722"/>
            <a:ext cx="91599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75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82721" y="2255541"/>
            <a:ext cx="11922558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Achieved 90% validation accuracy on challenging dataset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Demonstrated effective combination of spatial and temporal analysis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Created end-to-end pipeline: preprocessing → training → evaluation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Technical Contributions: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Implemented transfer learning with fine-tuned ResNet50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Applied LSTM for temporal consistency verification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Optimized training with regularization and data augmentation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Achieved production-ready performance metrics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Impact: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Provides automated tool for video authenticity verification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Contributes to combating misinformation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Foundation for more advanced detection systems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802858" y="3125245"/>
            <a:ext cx="8682285" cy="434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3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THANK</a:t>
            </a:r>
          </a:p>
          <a:p>
            <a:pPr algn="ctr">
              <a:lnSpc>
                <a:spcPts val="14853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726</Words>
  <Application>Microsoft Office PowerPoint</Application>
  <PresentationFormat>Custom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Clear Sans</vt:lpstr>
      <vt:lpstr>Clear Sans Bold</vt:lpstr>
      <vt:lpstr>Impact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AI_DeepFake</dc:title>
  <cp:lastModifiedBy>Nikhil Rajiv</cp:lastModifiedBy>
  <cp:revision>2</cp:revision>
  <dcterms:created xsi:type="dcterms:W3CDTF">2006-08-16T00:00:00Z</dcterms:created>
  <dcterms:modified xsi:type="dcterms:W3CDTF">2025-11-11T14:57:40Z</dcterms:modified>
  <dc:identifier>DAG4XZlr7FA</dc:identifier>
</cp:coreProperties>
</file>